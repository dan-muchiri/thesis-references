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0" r:id="rId7"/>
    <p:sldId id="262" r:id="rId8"/>
    <p:sldId id="273" r:id="rId9"/>
    <p:sldId id="278" r:id="rId10"/>
    <p:sldId id="279" r:id="rId11"/>
    <p:sldId id="265" r:id="rId12"/>
    <p:sldId id="276" r:id="rId13"/>
    <p:sldId id="27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 ." initials="D." lastIdx="15" clrIdx="0">
    <p:extLst>
      <p:ext uri="{19B8F6BF-5375-455C-9EA6-DF929625EA0E}">
        <p15:presenceInfo xmlns:p15="http://schemas.microsoft.com/office/powerpoint/2012/main" userId="560be643239ca86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xie Mbiyu" userId="32b4ca0b6ce31eec" providerId="LiveId" clId="{3B856065-C1FE-4628-99B0-80AF389C3016}"/>
    <pc:docChg chg="undo custSel addSld modSld">
      <pc:chgData name="Pixie Mbiyu" userId="32b4ca0b6ce31eec" providerId="LiveId" clId="{3B856065-C1FE-4628-99B0-80AF389C3016}" dt="2025-10-03T20:15:13.350" v="507" actId="1076"/>
      <pc:docMkLst>
        <pc:docMk/>
      </pc:docMkLst>
      <pc:sldChg chg="addSp delSp modSp new mod">
        <pc:chgData name="Pixie Mbiyu" userId="32b4ca0b6ce31eec" providerId="LiveId" clId="{3B856065-C1FE-4628-99B0-80AF389C3016}" dt="2025-10-03T19:24:50.524" v="127" actId="2711"/>
        <pc:sldMkLst>
          <pc:docMk/>
          <pc:sldMk cId="807283536" sldId="256"/>
        </pc:sldMkLst>
        <pc:spChg chg="add mod">
          <ac:chgData name="Pixie Mbiyu" userId="32b4ca0b6ce31eec" providerId="LiveId" clId="{3B856065-C1FE-4628-99B0-80AF389C3016}" dt="2025-09-18T09:01:50.312" v="28" actId="2711"/>
          <ac:spMkLst>
            <pc:docMk/>
            <pc:sldMk cId="807283536" sldId="256"/>
            <ac:spMk id="6" creationId="{F5A04182-087C-A0A2-1564-372C943F992B}"/>
          </ac:spMkLst>
        </pc:spChg>
        <pc:spChg chg="add mod">
          <ac:chgData name="Pixie Mbiyu" userId="32b4ca0b6ce31eec" providerId="LiveId" clId="{3B856065-C1FE-4628-99B0-80AF389C3016}" dt="2025-10-03T19:24:50.524" v="127" actId="2711"/>
          <ac:spMkLst>
            <pc:docMk/>
            <pc:sldMk cId="807283536" sldId="256"/>
            <ac:spMk id="7" creationId="{70255ADB-EDE1-0EB4-F6D0-9690D6BAABC4}"/>
          </ac:spMkLst>
        </pc:spChg>
        <pc:picChg chg="add mod modCrop">
          <ac:chgData name="Pixie Mbiyu" userId="32b4ca0b6ce31eec" providerId="LiveId" clId="{3B856065-C1FE-4628-99B0-80AF389C3016}" dt="2025-09-18T08:57:02.251" v="12" actId="14100"/>
          <ac:picMkLst>
            <pc:docMk/>
            <pc:sldMk cId="807283536" sldId="256"/>
            <ac:picMk id="5" creationId="{2F4967F9-D090-D540-AE20-BB4D13FCFA74}"/>
          </ac:picMkLst>
        </pc:picChg>
      </pc:sldChg>
      <pc:sldChg chg="modSp new mod">
        <pc:chgData name="Pixie Mbiyu" userId="32b4ca0b6ce31eec" providerId="LiveId" clId="{3B856065-C1FE-4628-99B0-80AF389C3016}" dt="2025-10-03T19:25:01.349" v="129" actId="2711"/>
        <pc:sldMkLst>
          <pc:docMk/>
          <pc:sldMk cId="2894287320" sldId="257"/>
        </pc:sldMkLst>
        <pc:spChg chg="mod">
          <ac:chgData name="Pixie Mbiyu" userId="32b4ca0b6ce31eec" providerId="LiveId" clId="{3B856065-C1FE-4628-99B0-80AF389C3016}" dt="2025-10-03T19:25:01.349" v="129" actId="2711"/>
          <ac:spMkLst>
            <pc:docMk/>
            <pc:sldMk cId="2894287320" sldId="257"/>
            <ac:spMk id="2" creationId="{EBF043D2-B746-FBAA-4F64-9433C7CB229D}"/>
          </ac:spMkLst>
        </pc:spChg>
        <pc:spChg chg="mod">
          <ac:chgData name="Pixie Mbiyu" userId="32b4ca0b6ce31eec" providerId="LiveId" clId="{3B856065-C1FE-4628-99B0-80AF389C3016}" dt="2025-10-03T19:24:56.633" v="128" actId="2711"/>
          <ac:spMkLst>
            <pc:docMk/>
            <pc:sldMk cId="2894287320" sldId="257"/>
            <ac:spMk id="3" creationId="{285DA3A1-B784-EC40-4F2B-A39CE20B5533}"/>
          </ac:spMkLst>
        </pc:spChg>
      </pc:sldChg>
      <pc:sldChg chg="addSp delSp modSp new mod">
        <pc:chgData name="Pixie Mbiyu" userId="32b4ca0b6ce31eec" providerId="LiveId" clId="{3B856065-C1FE-4628-99B0-80AF389C3016}" dt="2025-10-03T19:43:44.832" v="161" actId="1076"/>
        <pc:sldMkLst>
          <pc:docMk/>
          <pc:sldMk cId="1301860088" sldId="258"/>
        </pc:sldMkLst>
        <pc:spChg chg="mod">
          <ac:chgData name="Pixie Mbiyu" userId="32b4ca0b6ce31eec" providerId="LiveId" clId="{3B856065-C1FE-4628-99B0-80AF389C3016}" dt="2025-10-03T19:25:06.252" v="130" actId="2711"/>
          <ac:spMkLst>
            <pc:docMk/>
            <pc:sldMk cId="1301860088" sldId="258"/>
            <ac:spMk id="2" creationId="{ECA00003-1002-BD10-B440-D5CF7180AF5F}"/>
          </ac:spMkLst>
        </pc:spChg>
        <pc:spChg chg="add del mod">
          <ac:chgData name="Pixie Mbiyu" userId="32b4ca0b6ce31eec" providerId="LiveId" clId="{3B856065-C1FE-4628-99B0-80AF389C3016}" dt="2025-10-03T19:41:11.274" v="146"/>
          <ac:spMkLst>
            <pc:docMk/>
            <pc:sldMk cId="1301860088" sldId="258"/>
            <ac:spMk id="3" creationId="{062F1D8F-1BB8-7D5E-257B-8E76C4FE4780}"/>
          </ac:spMkLst>
        </pc:spChg>
        <pc:spChg chg="add">
          <ac:chgData name="Pixie Mbiyu" userId="32b4ca0b6ce31eec" providerId="LiveId" clId="{3B856065-C1FE-4628-99B0-80AF389C3016}" dt="2025-10-03T19:40:43.247" v="138"/>
          <ac:spMkLst>
            <pc:docMk/>
            <pc:sldMk cId="1301860088" sldId="258"/>
            <ac:spMk id="4" creationId="{61B409D7-2350-BEA4-E92D-5A40C20ADBB6}"/>
          </ac:spMkLst>
        </pc:spChg>
        <pc:spChg chg="add mod">
          <ac:chgData name="Pixie Mbiyu" userId="32b4ca0b6ce31eec" providerId="LiveId" clId="{3B856065-C1FE-4628-99B0-80AF389C3016}" dt="2025-10-03T19:41:09.360" v="145"/>
          <ac:spMkLst>
            <pc:docMk/>
            <pc:sldMk cId="1301860088" sldId="258"/>
            <ac:spMk id="5" creationId="{DA1C2F65-D55D-B224-3179-C8B67D332CB6}"/>
          </ac:spMkLst>
        </pc:spChg>
        <pc:spChg chg="add mod">
          <ac:chgData name="Pixie Mbiyu" userId="32b4ca0b6ce31eec" providerId="LiveId" clId="{3B856065-C1FE-4628-99B0-80AF389C3016}" dt="2025-10-03T19:41:55.957" v="152" actId="1076"/>
          <ac:spMkLst>
            <pc:docMk/>
            <pc:sldMk cId="1301860088" sldId="258"/>
            <ac:spMk id="6" creationId="{83B9FFD4-18CC-84CA-D38C-B15E1699409D}"/>
          </ac:spMkLst>
        </pc:spChg>
        <pc:spChg chg="add mod">
          <ac:chgData name="Pixie Mbiyu" userId="32b4ca0b6ce31eec" providerId="LiveId" clId="{3B856065-C1FE-4628-99B0-80AF389C3016}" dt="2025-10-03T19:43:44.832" v="161" actId="1076"/>
          <ac:spMkLst>
            <pc:docMk/>
            <pc:sldMk cId="1301860088" sldId="258"/>
            <ac:spMk id="8" creationId="{2FF827DF-A459-5390-400D-69C99D0F6C1E}"/>
          </ac:spMkLst>
        </pc:spChg>
        <pc:picChg chg="add mod">
          <ac:chgData name="Pixie Mbiyu" userId="32b4ca0b6ce31eec" providerId="LiveId" clId="{3B856065-C1FE-4628-99B0-80AF389C3016}" dt="2025-10-03T19:42:24.836" v="155" actId="14100"/>
          <ac:picMkLst>
            <pc:docMk/>
            <pc:sldMk cId="1301860088" sldId="258"/>
            <ac:picMk id="7" creationId="{0F14F212-C0C3-E553-7F4A-8F9D42959B29}"/>
          </ac:picMkLst>
        </pc:picChg>
      </pc:sldChg>
      <pc:sldChg chg="modSp new mod">
        <pc:chgData name="Pixie Mbiyu" userId="32b4ca0b6ce31eec" providerId="LiveId" clId="{3B856065-C1FE-4628-99B0-80AF389C3016}" dt="2025-10-03T19:44:52.829" v="168" actId="20577"/>
        <pc:sldMkLst>
          <pc:docMk/>
          <pc:sldMk cId="329331162" sldId="259"/>
        </pc:sldMkLst>
        <pc:spChg chg="mod">
          <ac:chgData name="Pixie Mbiyu" userId="32b4ca0b6ce31eec" providerId="LiveId" clId="{3B856065-C1FE-4628-99B0-80AF389C3016}" dt="2025-10-03T19:44:20.221" v="164" actId="2711"/>
          <ac:spMkLst>
            <pc:docMk/>
            <pc:sldMk cId="329331162" sldId="259"/>
            <ac:spMk id="2" creationId="{B3E3D549-E961-9A8D-BC11-17437CCD4A13}"/>
          </ac:spMkLst>
        </pc:spChg>
        <pc:spChg chg="mod">
          <ac:chgData name="Pixie Mbiyu" userId="32b4ca0b6ce31eec" providerId="LiveId" clId="{3B856065-C1FE-4628-99B0-80AF389C3016}" dt="2025-10-03T19:44:52.829" v="168" actId="20577"/>
          <ac:spMkLst>
            <pc:docMk/>
            <pc:sldMk cId="329331162" sldId="259"/>
            <ac:spMk id="3" creationId="{C1D6BFF5-21FD-EA75-8B6C-417AA0A7B87D}"/>
          </ac:spMkLst>
        </pc:spChg>
      </pc:sldChg>
      <pc:sldChg chg="modSp new mod">
        <pc:chgData name="Pixie Mbiyu" userId="32b4ca0b6ce31eec" providerId="LiveId" clId="{3B856065-C1FE-4628-99B0-80AF389C3016}" dt="2025-10-03T19:49:11.074" v="245" actId="2711"/>
        <pc:sldMkLst>
          <pc:docMk/>
          <pc:sldMk cId="4072225334" sldId="260"/>
        </pc:sldMkLst>
        <pc:spChg chg="mod">
          <ac:chgData name="Pixie Mbiyu" userId="32b4ca0b6ce31eec" providerId="LiveId" clId="{3B856065-C1FE-4628-99B0-80AF389C3016}" dt="2025-10-03T19:45:48.735" v="172" actId="14100"/>
          <ac:spMkLst>
            <pc:docMk/>
            <pc:sldMk cId="4072225334" sldId="260"/>
            <ac:spMk id="2" creationId="{2E611338-41E8-5F68-006F-9D85A1317112}"/>
          </ac:spMkLst>
        </pc:spChg>
        <pc:spChg chg="mod">
          <ac:chgData name="Pixie Mbiyu" userId="32b4ca0b6ce31eec" providerId="LiveId" clId="{3B856065-C1FE-4628-99B0-80AF389C3016}" dt="2025-10-03T19:49:11.074" v="245" actId="2711"/>
          <ac:spMkLst>
            <pc:docMk/>
            <pc:sldMk cId="4072225334" sldId="260"/>
            <ac:spMk id="3" creationId="{317178B7-6B62-705E-CA02-21FF7557DEB0}"/>
          </ac:spMkLst>
        </pc:spChg>
      </pc:sldChg>
      <pc:sldChg chg="addSp delSp modSp new mod">
        <pc:chgData name="Pixie Mbiyu" userId="32b4ca0b6ce31eec" providerId="LiveId" clId="{3B856065-C1FE-4628-99B0-80AF389C3016}" dt="2025-10-03T19:56:56.228" v="304" actId="2711"/>
        <pc:sldMkLst>
          <pc:docMk/>
          <pc:sldMk cId="3923544390" sldId="261"/>
        </pc:sldMkLst>
        <pc:spChg chg="mod">
          <ac:chgData name="Pixie Mbiyu" userId="32b4ca0b6ce31eec" providerId="LiveId" clId="{3B856065-C1FE-4628-99B0-80AF389C3016}" dt="2025-10-03T19:55:46.912" v="295" actId="27636"/>
          <ac:spMkLst>
            <pc:docMk/>
            <pc:sldMk cId="3923544390" sldId="261"/>
            <ac:spMk id="2" creationId="{C7091BF7-E2A7-C70D-077D-478D32A39ED9}"/>
          </ac:spMkLst>
        </pc:spChg>
        <pc:spChg chg="del mod">
          <ac:chgData name="Pixie Mbiyu" userId="32b4ca0b6ce31eec" providerId="LiveId" clId="{3B856065-C1FE-4628-99B0-80AF389C3016}" dt="2025-10-03T19:49:52.164" v="249" actId="3680"/>
          <ac:spMkLst>
            <pc:docMk/>
            <pc:sldMk cId="3923544390" sldId="261"/>
            <ac:spMk id="3" creationId="{5CCF1A6B-8DE1-3D3F-3584-A52D151B9764}"/>
          </ac:spMkLst>
        </pc:spChg>
        <pc:graphicFrameChg chg="add mod ord modGraphic">
          <ac:chgData name="Pixie Mbiyu" userId="32b4ca0b6ce31eec" providerId="LiveId" clId="{3B856065-C1FE-4628-99B0-80AF389C3016}" dt="2025-10-03T19:56:56.228" v="304" actId="2711"/>
          <ac:graphicFrameMkLst>
            <pc:docMk/>
            <pc:sldMk cId="3923544390" sldId="261"/>
            <ac:graphicFrameMk id="4" creationId="{8F5E2070-E60C-F0F6-FF3F-928B0F4F97F4}"/>
          </ac:graphicFrameMkLst>
        </pc:graphicFrameChg>
      </pc:sldChg>
      <pc:sldChg chg="modSp new mod">
        <pc:chgData name="Pixie Mbiyu" userId="32b4ca0b6ce31eec" providerId="LiveId" clId="{3B856065-C1FE-4628-99B0-80AF389C3016}" dt="2025-10-03T19:58:17.870" v="327" actId="113"/>
        <pc:sldMkLst>
          <pc:docMk/>
          <pc:sldMk cId="1538912318" sldId="262"/>
        </pc:sldMkLst>
        <pc:spChg chg="mod">
          <ac:chgData name="Pixie Mbiyu" userId="32b4ca0b6ce31eec" providerId="LiveId" clId="{3B856065-C1FE-4628-99B0-80AF389C3016}" dt="2025-10-03T19:57:47.023" v="321" actId="2711"/>
          <ac:spMkLst>
            <pc:docMk/>
            <pc:sldMk cId="1538912318" sldId="262"/>
            <ac:spMk id="2" creationId="{D6E69AAA-375C-8BD7-2B47-EC49810EBC9D}"/>
          </ac:spMkLst>
        </pc:spChg>
        <pc:spChg chg="mod">
          <ac:chgData name="Pixie Mbiyu" userId="32b4ca0b6ce31eec" providerId="LiveId" clId="{3B856065-C1FE-4628-99B0-80AF389C3016}" dt="2025-10-03T19:58:17.870" v="327" actId="113"/>
          <ac:spMkLst>
            <pc:docMk/>
            <pc:sldMk cId="1538912318" sldId="262"/>
            <ac:spMk id="3" creationId="{67AEBBA7-5469-8625-6452-D40259FDC79E}"/>
          </ac:spMkLst>
        </pc:spChg>
      </pc:sldChg>
      <pc:sldChg chg="addSp delSp modSp new mod">
        <pc:chgData name="Pixie Mbiyu" userId="32b4ca0b6ce31eec" providerId="LiveId" clId="{3B856065-C1FE-4628-99B0-80AF389C3016}" dt="2025-10-03T20:00:53.335" v="351" actId="14100"/>
        <pc:sldMkLst>
          <pc:docMk/>
          <pc:sldMk cId="3982147569" sldId="263"/>
        </pc:sldMkLst>
        <pc:spChg chg="mod">
          <ac:chgData name="Pixie Mbiyu" userId="32b4ca0b6ce31eec" providerId="LiveId" clId="{3B856065-C1FE-4628-99B0-80AF389C3016}" dt="2025-10-03T19:59:36.383" v="343" actId="2711"/>
          <ac:spMkLst>
            <pc:docMk/>
            <pc:sldMk cId="3982147569" sldId="263"/>
            <ac:spMk id="2" creationId="{E4264AE9-50E9-1FCE-4715-C49CE714FDBD}"/>
          </ac:spMkLst>
        </pc:spChg>
        <pc:spChg chg="del mod">
          <ac:chgData name="Pixie Mbiyu" userId="32b4ca0b6ce31eec" providerId="LiveId" clId="{3B856065-C1FE-4628-99B0-80AF389C3016}" dt="2025-10-03T19:59:22.789" v="341"/>
          <ac:spMkLst>
            <pc:docMk/>
            <pc:sldMk cId="3982147569" sldId="263"/>
            <ac:spMk id="3" creationId="{FC1650B2-9CFA-FD4C-14CA-1A433929942A}"/>
          </ac:spMkLst>
        </pc:spChg>
        <pc:spChg chg="add mod">
          <ac:chgData name="Pixie Mbiyu" userId="32b4ca0b6ce31eec" providerId="LiveId" clId="{3B856065-C1FE-4628-99B0-80AF389C3016}" dt="2025-10-03T20:00:53.335" v="351" actId="14100"/>
          <ac:spMkLst>
            <pc:docMk/>
            <pc:sldMk cId="3982147569" sldId="263"/>
            <ac:spMk id="4" creationId="{295A9ECA-FD58-0F32-E267-48A14FD075B7}"/>
          </ac:spMkLst>
        </pc:spChg>
      </pc:sldChg>
      <pc:sldChg chg="modSp new mod">
        <pc:chgData name="Pixie Mbiyu" userId="32b4ca0b6ce31eec" providerId="LiveId" clId="{3B856065-C1FE-4628-99B0-80AF389C3016}" dt="2025-10-03T20:02:47.650" v="358" actId="20577"/>
        <pc:sldMkLst>
          <pc:docMk/>
          <pc:sldMk cId="872893690" sldId="264"/>
        </pc:sldMkLst>
        <pc:spChg chg="mod">
          <ac:chgData name="Pixie Mbiyu" userId="32b4ca0b6ce31eec" providerId="LiveId" clId="{3B856065-C1FE-4628-99B0-80AF389C3016}" dt="2025-10-03T20:01:13.054" v="354" actId="2711"/>
          <ac:spMkLst>
            <pc:docMk/>
            <pc:sldMk cId="872893690" sldId="264"/>
            <ac:spMk id="2" creationId="{6CE7BD6B-5EC1-BB0A-B04B-67FBF350C51D}"/>
          </ac:spMkLst>
        </pc:spChg>
        <pc:spChg chg="mod">
          <ac:chgData name="Pixie Mbiyu" userId="32b4ca0b6ce31eec" providerId="LiveId" clId="{3B856065-C1FE-4628-99B0-80AF389C3016}" dt="2025-10-03T20:02:47.650" v="358" actId="20577"/>
          <ac:spMkLst>
            <pc:docMk/>
            <pc:sldMk cId="872893690" sldId="264"/>
            <ac:spMk id="3" creationId="{235CB570-4DAA-5E7E-1002-5AC1C151870D}"/>
          </ac:spMkLst>
        </pc:spChg>
      </pc:sldChg>
      <pc:sldChg chg="modSp new mod">
        <pc:chgData name="Pixie Mbiyu" userId="32b4ca0b6ce31eec" providerId="LiveId" clId="{3B856065-C1FE-4628-99B0-80AF389C3016}" dt="2025-10-03T20:03:53.721" v="369" actId="20577"/>
        <pc:sldMkLst>
          <pc:docMk/>
          <pc:sldMk cId="1439128222" sldId="265"/>
        </pc:sldMkLst>
        <pc:spChg chg="mod">
          <ac:chgData name="Pixie Mbiyu" userId="32b4ca0b6ce31eec" providerId="LiveId" clId="{3B856065-C1FE-4628-99B0-80AF389C3016}" dt="2025-10-03T20:03:18.925" v="361" actId="2711"/>
          <ac:spMkLst>
            <pc:docMk/>
            <pc:sldMk cId="1439128222" sldId="265"/>
            <ac:spMk id="2" creationId="{F4326571-C3D5-7ECA-C434-BD51492A7AA2}"/>
          </ac:spMkLst>
        </pc:spChg>
        <pc:spChg chg="mod">
          <ac:chgData name="Pixie Mbiyu" userId="32b4ca0b6ce31eec" providerId="LiveId" clId="{3B856065-C1FE-4628-99B0-80AF389C3016}" dt="2025-10-03T20:03:53.721" v="369" actId="20577"/>
          <ac:spMkLst>
            <pc:docMk/>
            <pc:sldMk cId="1439128222" sldId="265"/>
            <ac:spMk id="3" creationId="{D8061804-97BE-4657-3B63-A8272DB93281}"/>
          </ac:spMkLst>
        </pc:spChg>
      </pc:sldChg>
      <pc:sldChg chg="addSp delSp modSp new mod">
        <pc:chgData name="Pixie Mbiyu" userId="32b4ca0b6ce31eec" providerId="LiveId" clId="{3B856065-C1FE-4628-99B0-80AF389C3016}" dt="2025-10-03T20:05:52.235" v="394" actId="255"/>
        <pc:sldMkLst>
          <pc:docMk/>
          <pc:sldMk cId="1288373435" sldId="266"/>
        </pc:sldMkLst>
        <pc:spChg chg="mod">
          <ac:chgData name="Pixie Mbiyu" userId="32b4ca0b6ce31eec" providerId="LiveId" clId="{3B856065-C1FE-4628-99B0-80AF389C3016}" dt="2025-10-03T20:05:38.192" v="392" actId="1076"/>
          <ac:spMkLst>
            <pc:docMk/>
            <pc:sldMk cId="1288373435" sldId="266"/>
            <ac:spMk id="2" creationId="{7DF0441B-18F7-2E10-DAC2-210D3A009B80}"/>
          </ac:spMkLst>
        </pc:spChg>
        <pc:spChg chg="del mod">
          <ac:chgData name="Pixie Mbiyu" userId="32b4ca0b6ce31eec" providerId="LiveId" clId="{3B856065-C1FE-4628-99B0-80AF389C3016}" dt="2025-10-03T20:04:57.962" v="385"/>
          <ac:spMkLst>
            <pc:docMk/>
            <pc:sldMk cId="1288373435" sldId="266"/>
            <ac:spMk id="3" creationId="{21244875-A7C9-492A-39D4-EA9C2DB818AF}"/>
          </ac:spMkLst>
        </pc:spChg>
        <pc:graphicFrameChg chg="add mod modGraphic">
          <ac:chgData name="Pixie Mbiyu" userId="32b4ca0b6ce31eec" providerId="LiveId" clId="{3B856065-C1FE-4628-99B0-80AF389C3016}" dt="2025-10-03T20:05:52.235" v="394" actId="255"/>
          <ac:graphicFrameMkLst>
            <pc:docMk/>
            <pc:sldMk cId="1288373435" sldId="266"/>
            <ac:graphicFrameMk id="4" creationId="{7595B27D-97C9-9E54-DC89-16151B651C9E}"/>
          </ac:graphicFrameMkLst>
        </pc:graphicFrameChg>
      </pc:sldChg>
      <pc:sldChg chg="addSp delSp modSp new mod">
        <pc:chgData name="Pixie Mbiyu" userId="32b4ca0b6ce31eec" providerId="LiveId" clId="{3B856065-C1FE-4628-99B0-80AF389C3016}" dt="2025-10-03T20:11:53.453" v="449" actId="14100"/>
        <pc:sldMkLst>
          <pc:docMk/>
          <pc:sldMk cId="2126321335" sldId="267"/>
        </pc:sldMkLst>
        <pc:spChg chg="mod">
          <ac:chgData name="Pixie Mbiyu" userId="32b4ca0b6ce31eec" providerId="LiveId" clId="{3B856065-C1FE-4628-99B0-80AF389C3016}" dt="2025-10-03T20:08:46.405" v="420" actId="1076"/>
          <ac:spMkLst>
            <pc:docMk/>
            <pc:sldMk cId="2126321335" sldId="267"/>
            <ac:spMk id="2" creationId="{AFFD694F-791B-CF3F-C837-AA77B1A39F73}"/>
          </ac:spMkLst>
        </pc:spChg>
        <pc:spChg chg="del mod">
          <ac:chgData name="Pixie Mbiyu" userId="32b4ca0b6ce31eec" providerId="LiveId" clId="{3B856065-C1FE-4628-99B0-80AF389C3016}" dt="2025-10-03T20:06:41.032" v="399"/>
          <ac:spMkLst>
            <pc:docMk/>
            <pc:sldMk cId="2126321335" sldId="267"/>
            <ac:spMk id="3" creationId="{5F3CCE38-1DA6-2F98-FF5C-76E682E8C3C9}"/>
          </ac:spMkLst>
        </pc:spChg>
        <pc:spChg chg="add del mod">
          <ac:chgData name="Pixie Mbiyu" userId="32b4ca0b6ce31eec" providerId="LiveId" clId="{3B856065-C1FE-4628-99B0-80AF389C3016}" dt="2025-10-03T20:09:46.456" v="427" actId="931"/>
          <ac:spMkLst>
            <pc:docMk/>
            <pc:sldMk cId="2126321335" sldId="267"/>
            <ac:spMk id="6" creationId="{32A23507-CA12-726A-839C-38FA02B4D194}"/>
          </ac:spMkLst>
        </pc:spChg>
        <pc:spChg chg="add del mod">
          <ac:chgData name="Pixie Mbiyu" userId="32b4ca0b6ce31eec" providerId="LiveId" clId="{3B856065-C1FE-4628-99B0-80AF389C3016}" dt="2025-10-03T20:08:43.736" v="415" actId="478"/>
          <ac:spMkLst>
            <pc:docMk/>
            <pc:sldMk cId="2126321335" sldId="267"/>
            <ac:spMk id="9" creationId="{42F40FF4-16A4-147D-1FAB-AD8FE62885BB}"/>
          </ac:spMkLst>
        </pc:spChg>
        <pc:spChg chg="add del mod">
          <ac:chgData name="Pixie Mbiyu" userId="32b4ca0b6ce31eec" providerId="LiveId" clId="{3B856065-C1FE-4628-99B0-80AF389C3016}" dt="2025-10-03T20:11:00.270" v="437" actId="931"/>
          <ac:spMkLst>
            <pc:docMk/>
            <pc:sldMk cId="2126321335" sldId="267"/>
            <ac:spMk id="13" creationId="{3655F539-F9CF-2003-EE24-075E3643AF39}"/>
          </ac:spMkLst>
        </pc:spChg>
        <pc:graphicFrameChg chg="add del mod modGraphic">
          <ac:chgData name="Pixie Mbiyu" userId="32b4ca0b6ce31eec" providerId="LiveId" clId="{3B856065-C1FE-4628-99B0-80AF389C3016}" dt="2025-10-03T20:06:51.113" v="401" actId="478"/>
          <ac:graphicFrameMkLst>
            <pc:docMk/>
            <pc:sldMk cId="2126321335" sldId="267"/>
            <ac:graphicFrameMk id="4" creationId="{50E82854-00E6-175D-394F-481F1267D910}"/>
          </ac:graphicFrameMkLst>
        </pc:graphicFrameChg>
        <pc:graphicFrameChg chg="add del mod modGraphic">
          <ac:chgData name="Pixie Mbiyu" userId="32b4ca0b6ce31eec" providerId="LiveId" clId="{3B856065-C1FE-4628-99B0-80AF389C3016}" dt="2025-10-03T20:08:50.119" v="426"/>
          <ac:graphicFrameMkLst>
            <pc:docMk/>
            <pc:sldMk cId="2126321335" sldId="267"/>
            <ac:graphicFrameMk id="7" creationId="{036AC7B4-5E6C-AF2C-72A9-5BBDFC315DDB}"/>
          </ac:graphicFrameMkLst>
        </pc:graphicFrameChg>
        <pc:picChg chg="add del mod modCrop">
          <ac:chgData name="Pixie Mbiyu" userId="32b4ca0b6ce31eec" providerId="LiveId" clId="{3B856065-C1FE-4628-99B0-80AF389C3016}" dt="2025-10-03T20:10:40.404" v="435" actId="478"/>
          <ac:picMkLst>
            <pc:docMk/>
            <pc:sldMk cId="2126321335" sldId="267"/>
            <ac:picMk id="11" creationId="{04B630B1-A9B0-4EF8-F590-287FE0B2C875}"/>
          </ac:picMkLst>
        </pc:picChg>
        <pc:picChg chg="add mod modCrop">
          <ac:chgData name="Pixie Mbiyu" userId="32b4ca0b6ce31eec" providerId="LiveId" clId="{3B856065-C1FE-4628-99B0-80AF389C3016}" dt="2025-10-03T20:11:53.453" v="449" actId="14100"/>
          <ac:picMkLst>
            <pc:docMk/>
            <pc:sldMk cId="2126321335" sldId="267"/>
            <ac:picMk id="15" creationId="{577D403F-7EA7-3778-B339-B1CE2BCD690E}"/>
          </ac:picMkLst>
        </pc:picChg>
      </pc:sldChg>
      <pc:sldChg chg="addSp delSp modSp new mod">
        <pc:chgData name="Pixie Mbiyu" userId="32b4ca0b6ce31eec" providerId="LiveId" clId="{3B856065-C1FE-4628-99B0-80AF389C3016}" dt="2025-10-03T20:14:47.028" v="503" actId="12"/>
        <pc:sldMkLst>
          <pc:docMk/>
          <pc:sldMk cId="15645578" sldId="268"/>
        </pc:sldMkLst>
        <pc:spChg chg="mod">
          <ac:chgData name="Pixie Mbiyu" userId="32b4ca0b6ce31eec" providerId="LiveId" clId="{3B856065-C1FE-4628-99B0-80AF389C3016}" dt="2025-10-03T20:12:08.377" v="461" actId="2711"/>
          <ac:spMkLst>
            <pc:docMk/>
            <pc:sldMk cId="15645578" sldId="268"/>
            <ac:spMk id="2" creationId="{B208EE59-6FAA-18CB-78A0-03DEBB08EEF0}"/>
          </ac:spMkLst>
        </pc:spChg>
        <pc:spChg chg="add del mod">
          <ac:chgData name="Pixie Mbiyu" userId="32b4ca0b6ce31eec" providerId="LiveId" clId="{3B856065-C1FE-4628-99B0-80AF389C3016}" dt="2025-10-03T20:12:46.394" v="467"/>
          <ac:spMkLst>
            <pc:docMk/>
            <pc:sldMk cId="15645578" sldId="268"/>
            <ac:spMk id="3" creationId="{7A345DE1-1388-0184-25CE-930AAEABE880}"/>
          </ac:spMkLst>
        </pc:spChg>
        <pc:graphicFrameChg chg="add mod">
          <ac:chgData name="Pixie Mbiyu" userId="32b4ca0b6ce31eec" providerId="LiveId" clId="{3B856065-C1FE-4628-99B0-80AF389C3016}" dt="2025-10-03T20:12:28.432" v="464"/>
          <ac:graphicFrameMkLst>
            <pc:docMk/>
            <pc:sldMk cId="15645578" sldId="268"/>
            <ac:graphicFrameMk id="4" creationId="{CDC0C49B-3331-1A7D-B032-0CD30F129291}"/>
          </ac:graphicFrameMkLst>
        </pc:graphicFrameChg>
        <pc:graphicFrameChg chg="add mod modGraphic">
          <ac:chgData name="Pixie Mbiyu" userId="32b4ca0b6ce31eec" providerId="LiveId" clId="{3B856065-C1FE-4628-99B0-80AF389C3016}" dt="2025-10-03T20:14:47.028" v="503" actId="12"/>
          <ac:graphicFrameMkLst>
            <pc:docMk/>
            <pc:sldMk cId="15645578" sldId="268"/>
            <ac:graphicFrameMk id="6" creationId="{4D87EB28-9DDE-8AA6-266F-66FEB7B72624}"/>
          </ac:graphicFrameMkLst>
        </pc:graphicFrameChg>
        <pc:picChg chg="add mod">
          <ac:chgData name="Pixie Mbiyu" userId="32b4ca0b6ce31eec" providerId="LiveId" clId="{3B856065-C1FE-4628-99B0-80AF389C3016}" dt="2025-10-03T20:12:41.860" v="466"/>
          <ac:picMkLst>
            <pc:docMk/>
            <pc:sldMk cId="15645578" sldId="268"/>
            <ac:picMk id="5" creationId="{4850F246-6F53-C9D7-283A-E416CA8E6CBF}"/>
          </ac:picMkLst>
        </pc:picChg>
      </pc:sldChg>
      <pc:sldChg chg="addSp delSp modSp new mod">
        <pc:chgData name="Pixie Mbiyu" userId="32b4ca0b6ce31eec" providerId="LiveId" clId="{3B856065-C1FE-4628-99B0-80AF389C3016}" dt="2025-10-03T20:15:13.350" v="507" actId="1076"/>
        <pc:sldMkLst>
          <pc:docMk/>
          <pc:sldMk cId="541557453" sldId="269"/>
        </pc:sldMkLst>
        <pc:spChg chg="del">
          <ac:chgData name="Pixie Mbiyu" userId="32b4ca0b6ce31eec" providerId="LiveId" clId="{3B856065-C1FE-4628-99B0-80AF389C3016}" dt="2025-10-03T20:15:11.339" v="506" actId="478"/>
          <ac:spMkLst>
            <pc:docMk/>
            <pc:sldMk cId="541557453" sldId="269"/>
            <ac:spMk id="2" creationId="{61978519-A781-F1AC-CBA7-9A5D593955C7}"/>
          </ac:spMkLst>
        </pc:spChg>
        <pc:spChg chg="del">
          <ac:chgData name="Pixie Mbiyu" userId="32b4ca0b6ce31eec" providerId="LiveId" clId="{3B856065-C1FE-4628-99B0-80AF389C3016}" dt="2025-10-03T20:15:08.056" v="505"/>
          <ac:spMkLst>
            <pc:docMk/>
            <pc:sldMk cId="541557453" sldId="269"/>
            <ac:spMk id="3" creationId="{88846A7C-A138-0894-B7F3-291521BB63BC}"/>
          </ac:spMkLst>
        </pc:spChg>
        <pc:picChg chg="add mod">
          <ac:chgData name="Pixie Mbiyu" userId="32b4ca0b6ce31eec" providerId="LiveId" clId="{3B856065-C1FE-4628-99B0-80AF389C3016}" dt="2025-10-03T20:15:13.350" v="507" actId="1076"/>
          <ac:picMkLst>
            <pc:docMk/>
            <pc:sldMk cId="541557453" sldId="269"/>
            <ac:picMk id="4" creationId="{28797AC6-7AF2-6226-28C6-C4463E245B6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553B3-4282-4135-8505-59DC8F276E06}" type="datetimeFigureOut">
              <a:rPr lang="en-KE" smtClean="0"/>
              <a:t>03/01/2026</a:t>
            </a:fld>
            <a:endParaRPr lang="en-K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8EE56-9209-42BE-9C3D-46C60A4FA51B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805441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F02A3-ACBE-CE77-DE3E-EED75C153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95C7A5-A83A-8756-AA9A-FFB5F44DD4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FC79E-AB4F-DF85-AA26-4E169D524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0473F-CF1E-4F06-941E-D66FC0C89C4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CC8A6-8DAC-5C5A-51FF-537CEB208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F5FFA-E03B-7837-61B2-3C95764BA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ED46-AEB0-4128-BF5A-B27F0DE0B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677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6B8B3-9AFF-4AC1-45B7-5E5B7B706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9126D-9E47-3583-1775-E7DE7F868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E9269-05E5-C038-A412-0894E4460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0473F-CF1E-4F06-941E-D66FC0C89C4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96303-60C6-B969-D802-57B7ED7DA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32BDD-D491-55B9-3B26-4B913D2A1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ED46-AEB0-4128-BF5A-B27F0DE0B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740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6E359-6A0B-96C5-8053-D23CEC7E7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15A7C5-047E-B64C-61D7-3E8DBE3A3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C575F-D721-40B1-D348-7E18F3A11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0473F-CF1E-4F06-941E-D66FC0C89C4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40239-10AA-BE00-9563-3B7C16243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98075-FBF9-8147-CD2B-9A121C59F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ED46-AEB0-4128-BF5A-B27F0DE0B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333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5C0B4-5126-00B4-57FE-CE8481FA1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4730A-FD0A-2A50-6C9E-77E723487E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F52148-7A8E-DCD3-0696-BAFC0A0300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4245AE-F321-52F1-00B5-EAD2F8AD4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0473F-CF1E-4F06-941E-D66FC0C89C4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2227D7-DD78-5FF6-97E0-BB5FFC678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F8D0CF-E321-199E-D9CF-7482CBA6F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ED46-AEB0-4128-BF5A-B27F0DE0B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812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76696-2B0B-40B5-713D-3321EC8A1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723B5B-AD94-3E5E-2B3D-8576C3125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D82756-8AA6-40B3-676A-F68C960EB3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E7C997-1591-27C8-B684-2AD63B45D1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AE19C5-796D-F575-042E-BD6E6D7D1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D6AFD3-C5D7-CABE-90FD-AB2B9158E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0473F-CF1E-4F06-941E-D66FC0C89C4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6B008A-4DE5-390F-1317-226EF7952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44F66-730D-5EC4-11EC-85F783B3B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ED46-AEB0-4128-BF5A-B27F0DE0B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6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33244-9B1F-D63E-41E7-53E74C085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8E2529-9E26-0441-4B02-9A1C6D803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0473F-CF1E-4F06-941E-D66FC0C89C4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6D4821-93FE-5041-D64B-F76DD1E96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B6A061-86C4-80B8-05ED-17D310977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ED46-AEB0-4128-BF5A-B27F0DE0B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829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0D98E0-2A12-AEC4-029D-B2E304170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0473F-CF1E-4F06-941E-D66FC0C89C4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ACD42E-23A9-E2B6-4365-6988B05F6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778B8-1A39-D2E6-71AA-FBBA6F89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ED46-AEB0-4128-BF5A-B27F0DE0B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665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5ED60-F9F4-4F3F-C0B9-5D46CFEB8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82009-A91D-D931-E4F3-8E641D6C7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F43915-EB6E-9B20-1981-E61E15488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A472F-30B3-5481-AF24-669112B7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0473F-CF1E-4F06-941E-D66FC0C89C4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C9A58-6594-B150-3BBA-3AD9A83F7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6D7EF-E348-5D9F-B1ED-24A9FCC58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ED46-AEB0-4128-BF5A-B27F0DE0B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923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BE792-EEE6-CB1D-6220-905A16158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0F12D5-F6E4-B3BE-547A-4E5DA5A264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684636-7F96-9C3F-5257-A92513F6E5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FAB4E-5B44-D184-3622-A4E20BEE4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0473F-CF1E-4F06-941E-D66FC0C89C4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70EDDB-1C74-2532-3195-973E8D963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522CF0-764F-B90F-9022-5797029E4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ED46-AEB0-4128-BF5A-B27F0DE0B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195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97B70-69B7-6573-DD83-0D90AC303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077DF1-D7CB-F6CA-A0D6-0BB819E507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26DEE-558C-9572-8422-FD54322F6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0473F-CF1E-4F06-941E-D66FC0C89C4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D9D69-326F-5D2A-C9FD-621C19C5A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1935C-4A36-1675-7FBE-B8EFED57E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ED46-AEB0-4128-BF5A-B27F0DE0B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977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91B940-AB15-0448-A992-B49275BB0D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A4560F-C222-6AAE-6BF9-77CE00B74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0A16E-2D20-E6A7-450D-F8B83A412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0473F-CF1E-4F06-941E-D66FC0C89C4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B4536-D9F5-EFA7-6168-90C6240D1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3C097-ADCA-33A5-2BF5-F2971CA71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ED46-AEB0-4128-BF5A-B27F0DE0B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824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57E468-72CB-EF87-7CD7-097972683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198CC7-E127-F187-1B4B-4D82CD91B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38ABA-80C9-3CCF-BAF2-1F3E549CF8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C0473F-CF1E-4F06-941E-D66FC0C89C4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C0DE5-0744-0458-7365-1C13D465C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F3C56-A497-186E-743F-28449A04B1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1ED46-AEB0-4128-BF5A-B27F0DE0B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934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4967F9-D090-D540-AE20-BB4D13FCFA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25" t="27377" r="2500" b="64331"/>
          <a:stretch>
            <a:fillRect/>
          </a:stretch>
        </p:blipFill>
        <p:spPr>
          <a:xfrm>
            <a:off x="222422" y="543697"/>
            <a:ext cx="11974223" cy="6919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A04182-087C-A0A2-1564-372C943F992B}"/>
              </a:ext>
            </a:extLst>
          </p:cNvPr>
          <p:cNvSpPr txBox="1"/>
          <p:nvPr/>
        </p:nvSpPr>
        <p:spPr>
          <a:xfrm rot="10800000" flipV="1">
            <a:off x="1285104" y="1819783"/>
            <a:ext cx="104043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Multi‑Objective Sizing for Hybrid Solar Systems Using Synthetic Residential Loads and Machine‑Learning‑Based Long‑Term Solar Irradiance Forecasts.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255ADB-EDE1-0EB4-F6D0-9690D6BAABC4}"/>
              </a:ext>
            </a:extLst>
          </p:cNvPr>
          <p:cNvSpPr txBox="1"/>
          <p:nvPr/>
        </p:nvSpPr>
        <p:spPr>
          <a:xfrm>
            <a:off x="1525394" y="3234887"/>
            <a:ext cx="864973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Times New Roman" panose="02020603050405020304" pitchFamily="18" charset="0"/>
              </a:rPr>
              <a:t>MSc. Mechatronic Engineering</a:t>
            </a:r>
          </a:p>
          <a:p>
            <a:pPr algn="ctr"/>
            <a:r>
              <a:rPr lang="en-US" sz="2000" dirty="0">
                <a:cs typeface="Times New Roman" panose="02020603050405020304" pitchFamily="18" charset="0"/>
              </a:rPr>
              <a:t>Proposal presentation</a:t>
            </a:r>
          </a:p>
          <a:p>
            <a:pPr algn="ctr"/>
            <a:endParaRPr lang="en-US" sz="2000" dirty="0"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cs typeface="Times New Roman" panose="02020603050405020304" pitchFamily="18" charset="0"/>
              </a:rPr>
              <a:t>Dan Munene Muchiri</a:t>
            </a:r>
          </a:p>
          <a:p>
            <a:pPr algn="ctr"/>
            <a:r>
              <a:rPr lang="en-US" sz="2000" dirty="0">
                <a:cs typeface="Times New Roman" panose="02020603050405020304" pitchFamily="18" charset="0"/>
              </a:rPr>
              <a:t>ENM321- 2049/2024 </a:t>
            </a:r>
          </a:p>
          <a:p>
            <a:pPr algn="ctr"/>
            <a:endParaRPr lang="en-US" sz="2000" dirty="0"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cs typeface="Times New Roman" panose="02020603050405020304" pitchFamily="18" charset="0"/>
              </a:rPr>
              <a:t>Supervisors:</a:t>
            </a:r>
          </a:p>
          <a:p>
            <a:pPr algn="ctr"/>
            <a:r>
              <a:rPr lang="sv-SE" sz="2000" dirty="0">
                <a:cs typeface="Times New Roman" panose="02020603050405020304" pitchFamily="18" charset="0"/>
              </a:rPr>
              <a:t>Dr</a:t>
            </a:r>
            <a:r>
              <a:rPr lang="en-US" sz="2000" dirty="0">
                <a:cs typeface="Times New Roman" panose="02020603050405020304" pitchFamily="18" charset="0"/>
              </a:rPr>
              <a:t>. James Wamai Mwangi</a:t>
            </a:r>
          </a:p>
          <a:p>
            <a:pPr algn="ctr"/>
            <a:r>
              <a:rPr lang="sv-SE" sz="2000" dirty="0">
                <a:cs typeface="Times New Roman" panose="02020603050405020304" pitchFamily="18" charset="0"/>
              </a:rPr>
              <a:t>Dr. Jackson G. Njiri</a:t>
            </a:r>
            <a:endParaRPr lang="en-US" sz="20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283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043D2-B746-FBAA-4F64-9433C7CB2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982" y="765443"/>
            <a:ext cx="10515600" cy="528785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DA3A1-B784-EC40-4F2B-A39CE20B5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982" y="1670881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>
                <a:cs typeface="Times New Roman" panose="02020603050405020304" pitchFamily="18" charset="0"/>
              </a:rPr>
              <a:t>Introduction</a:t>
            </a:r>
          </a:p>
          <a:p>
            <a:r>
              <a:rPr lang="en-US" sz="2000" dirty="0"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sz="2000" dirty="0">
                <a:cs typeface="Times New Roman" panose="02020603050405020304" pitchFamily="18" charset="0"/>
              </a:rPr>
              <a:t>Objectives</a:t>
            </a:r>
          </a:p>
          <a:p>
            <a:r>
              <a:rPr lang="en-US" sz="2000" dirty="0">
                <a:cs typeface="Times New Roman" panose="02020603050405020304" pitchFamily="18" charset="0"/>
              </a:rPr>
              <a:t>Literature Review	</a:t>
            </a:r>
          </a:p>
          <a:p>
            <a:r>
              <a:rPr lang="en-US" sz="2000" dirty="0">
                <a:cs typeface="Times New Roman" panose="02020603050405020304" pitchFamily="18" charset="0"/>
              </a:rPr>
              <a:t>Summary of Gaps</a:t>
            </a:r>
          </a:p>
          <a:p>
            <a:r>
              <a:rPr lang="en-US" sz="2000" dirty="0">
                <a:cs typeface="Times New Roman" panose="02020603050405020304" pitchFamily="18" charset="0"/>
              </a:rPr>
              <a:t>Methodology</a:t>
            </a:r>
          </a:p>
          <a:p>
            <a:r>
              <a:rPr lang="en-US" sz="2000" dirty="0">
                <a:cs typeface="Times New Roman" panose="02020603050405020304" pitchFamily="18" charset="0"/>
              </a:rPr>
              <a:t>Expected Outcomes</a:t>
            </a:r>
          </a:p>
          <a:p>
            <a:r>
              <a:rPr lang="en-US" sz="2000" dirty="0">
                <a:cs typeface="Times New Roman" panose="02020603050405020304" pitchFamily="18" charset="0"/>
              </a:rPr>
              <a:t>Budget and time plan</a:t>
            </a:r>
          </a:p>
        </p:txBody>
      </p:sp>
    </p:spTree>
    <p:extLst>
      <p:ext uri="{BB962C8B-B14F-4D97-AF65-F5344CB8AC3E}">
        <p14:creationId xmlns:p14="http://schemas.microsoft.com/office/powerpoint/2010/main" val="2894287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00003-1002-BD10-B440-D5CF7180A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105" y="459652"/>
            <a:ext cx="10515600" cy="522795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3B9FFD4-18CC-84CA-D38C-B15E169940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0105" y="2063607"/>
            <a:ext cx="3642441" cy="3293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000" b="1" dirty="0">
                <a:cs typeface="Times New Roman" panose="02020603050405020304" pitchFamily="18" charset="0"/>
              </a:rPr>
              <a:t>Hybrid PV–battery–grid systems:</a:t>
            </a:r>
          </a:p>
          <a:p>
            <a:r>
              <a:rPr lang="en-US" sz="2000" dirty="0">
                <a:cs typeface="Times New Roman" panose="02020603050405020304" pitchFamily="18" charset="0"/>
              </a:rPr>
              <a:t>A hybrid system couples rooftop PV, a battery, and the utility grid through a smart inverter, enabling PV power to:</a:t>
            </a:r>
          </a:p>
          <a:p>
            <a:pPr lvl="1"/>
            <a:r>
              <a:rPr lang="en-US" sz="1800" dirty="0">
                <a:cs typeface="Times New Roman" panose="02020603050405020304" pitchFamily="18" charset="0"/>
              </a:rPr>
              <a:t>supply household loads directly,</a:t>
            </a:r>
          </a:p>
          <a:p>
            <a:pPr lvl="1"/>
            <a:r>
              <a:rPr lang="en-US" sz="1800" dirty="0">
                <a:cs typeface="Times New Roman" panose="02020603050405020304" pitchFamily="18" charset="0"/>
              </a:rPr>
              <a:t>charge the battery for later use, or</a:t>
            </a:r>
          </a:p>
          <a:p>
            <a:pPr lvl="1"/>
            <a:r>
              <a:rPr lang="en-US" sz="1800" dirty="0">
                <a:cs typeface="Times New Roman" panose="02020603050405020304" pitchFamily="18" charset="0"/>
              </a:rPr>
              <a:t>export or bypass to the grid when needed.​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93CE7F-2F8A-82E6-8B38-54A4DDABF7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0153" y="1362171"/>
            <a:ext cx="6158606" cy="40085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3BCC4C-C799-DD6D-2565-FF5780276973}"/>
              </a:ext>
            </a:extLst>
          </p:cNvPr>
          <p:cNvSpPr txBox="1"/>
          <p:nvPr/>
        </p:nvSpPr>
        <p:spPr>
          <a:xfrm>
            <a:off x="6643894" y="5311163"/>
            <a:ext cx="2831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[https://www.jesaton.co.ke/] </a:t>
            </a:r>
          </a:p>
        </p:txBody>
      </p:sp>
    </p:spTree>
    <p:extLst>
      <p:ext uri="{BB962C8B-B14F-4D97-AF65-F5344CB8AC3E}">
        <p14:creationId xmlns:p14="http://schemas.microsoft.com/office/powerpoint/2010/main" val="1301860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3D549-E961-9A8D-BC11-17437CCD4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101" y="221882"/>
            <a:ext cx="10515600" cy="77692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6BFF5-21FD-EA75-8B6C-417AA0A7B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101" y="1146515"/>
            <a:ext cx="5604804" cy="525428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cs typeface="Times New Roman" panose="02020603050405020304" pitchFamily="18" charset="0"/>
              </a:rPr>
              <a:t> 1. Lack of Electrical Load Profile</a:t>
            </a:r>
          </a:p>
          <a:p>
            <a:r>
              <a:rPr lang="en-US" sz="1800" dirty="0">
                <a:cs typeface="Times New Roman" panose="02020603050405020304" pitchFamily="18" charset="0"/>
              </a:rPr>
              <a:t>Installers currently use appliance lists instead of time‑resolved load profiles.</a:t>
            </a:r>
          </a:p>
          <a:p>
            <a:r>
              <a:rPr lang="en-US" sz="1800" dirty="0">
                <a:cs typeface="Times New Roman" panose="02020603050405020304" pitchFamily="18" charset="0"/>
              </a:rPr>
              <a:t>Most sites lack power meters, so demand is unmeasured.</a:t>
            </a:r>
          </a:p>
          <a:p>
            <a:r>
              <a:rPr lang="en-US" sz="1800" dirty="0">
                <a:cs typeface="Times New Roman" panose="02020603050405020304" pitchFamily="18" charset="0"/>
              </a:rPr>
              <a:t>Load monitoring takes longer than clients are willing to wait.</a:t>
            </a:r>
          </a:p>
          <a:p>
            <a:pPr marL="0" indent="0">
              <a:buNone/>
            </a:pPr>
            <a:endParaRPr lang="en-US" sz="18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cs typeface="Times New Roman" panose="02020603050405020304" pitchFamily="18" charset="0"/>
              </a:rPr>
              <a:t>2. Solar irradiance Variability</a:t>
            </a:r>
          </a:p>
          <a:p>
            <a:r>
              <a:rPr lang="en-US" sz="1800" dirty="0">
                <a:cs typeface="Times New Roman" panose="02020603050405020304" pitchFamily="18" charset="0"/>
              </a:rPr>
              <a:t>Installers rely on a single average sun‑hours value, masking real variability in solar irradiance.</a:t>
            </a:r>
          </a:p>
          <a:p>
            <a:r>
              <a:rPr lang="en-US" sz="1800" dirty="0">
                <a:cs typeface="Times New Roman" panose="02020603050405020304" pitchFamily="18" charset="0"/>
              </a:rPr>
              <a:t>Designers need a better estimate of future PV production to size systems</a:t>
            </a:r>
          </a:p>
          <a:p>
            <a:pPr marL="0" indent="0">
              <a:buNone/>
            </a:pPr>
            <a:endParaRPr lang="en-US" sz="18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cs typeface="Times New Roman" panose="02020603050405020304" pitchFamily="18" charset="0"/>
              </a:rPr>
              <a:t>3. Installation cost and Grid dependence</a:t>
            </a:r>
          </a:p>
          <a:p>
            <a:r>
              <a:rPr lang="en-US" sz="1800" dirty="0">
                <a:cs typeface="Times New Roman" panose="02020603050405020304" pitchFamily="18" charset="0"/>
              </a:rPr>
              <a:t>Installers need trade off upfront cost, autonomy, and bill savings to persuade customers.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E024E0-7A1A-A5B6-9C81-E10148C7E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6267" y="369332"/>
            <a:ext cx="5248869" cy="28276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16A71A-680B-DD0A-1A7B-0A151652D9B8}"/>
              </a:ext>
            </a:extLst>
          </p:cNvPr>
          <p:cNvSpPr txBox="1"/>
          <p:nvPr/>
        </p:nvSpPr>
        <p:spPr>
          <a:xfrm>
            <a:off x="8122696" y="0"/>
            <a:ext cx="2085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[Ndwali et al., 2019]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72593E-B552-4702-56B0-14E8DF805C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6910" y="3362179"/>
            <a:ext cx="5078226" cy="303498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E252FA8-3318-6D32-991B-C6C83DA0B200}"/>
              </a:ext>
            </a:extLst>
          </p:cNvPr>
          <p:cNvSpPr txBox="1"/>
          <p:nvPr/>
        </p:nvSpPr>
        <p:spPr>
          <a:xfrm>
            <a:off x="7536766" y="6397167"/>
            <a:ext cx="3056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[Anastasopoulou et al., 2016] </a:t>
            </a:r>
          </a:p>
        </p:txBody>
      </p:sp>
    </p:spTree>
    <p:extLst>
      <p:ext uri="{BB962C8B-B14F-4D97-AF65-F5344CB8AC3E}">
        <p14:creationId xmlns:p14="http://schemas.microsoft.com/office/powerpoint/2010/main" val="329331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11338-41E8-5F68-006F-9D85A1317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59" y="173184"/>
            <a:ext cx="10515600" cy="877521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178B7-6B62-705E-CA02-21FF7557D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59" y="1206613"/>
            <a:ext cx="5514534" cy="503944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Main objective</a:t>
            </a:r>
          </a:p>
          <a:p>
            <a:pPr marL="0" indent="0">
              <a:buNone/>
            </a:pPr>
            <a:r>
              <a:rPr lang="en-US" sz="2000" dirty="0"/>
              <a:t>To develop an integrated framework that combines residential load modelling, long‑term solar irradiance forecasting, and multi‑objective optimization for sizing hybrid solar systems.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Specific objectives</a:t>
            </a:r>
          </a:p>
          <a:p>
            <a:pPr marL="457200" indent="-457200">
              <a:buAutoNum type="arabicPeriod"/>
            </a:pPr>
            <a:r>
              <a:rPr lang="en-US" sz="2000" dirty="0"/>
              <a:t>To develop a robust model for generating realistic synthetic residential electricity load profiles.</a:t>
            </a:r>
          </a:p>
          <a:p>
            <a:pPr marL="457200" indent="-457200">
              <a:buAutoNum type="arabicPeriod"/>
            </a:pPr>
            <a:r>
              <a:rPr lang="en-US" sz="2000" dirty="0"/>
              <a:t>To develop and validate a machine‑learning model for long‑term solar irradiance forecasting.</a:t>
            </a:r>
          </a:p>
          <a:p>
            <a:pPr marL="457200" indent="-457200">
              <a:buAutoNum type="arabicPeriod"/>
            </a:pPr>
            <a:r>
              <a:rPr lang="en-US" sz="2000" dirty="0"/>
              <a:t>To formulate and apply a multi‑objective optimization method for sizing hybrid solar systems.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F10ADA-2B06-80B8-9031-148C9D4DE659}"/>
              </a:ext>
            </a:extLst>
          </p:cNvPr>
          <p:cNvSpPr/>
          <p:nvPr/>
        </p:nvSpPr>
        <p:spPr>
          <a:xfrm>
            <a:off x="7546143" y="1050705"/>
            <a:ext cx="3446585" cy="13537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Appliance list &amp; wattages</a:t>
            </a:r>
          </a:p>
          <a:p>
            <a:pPr algn="ctr"/>
            <a:r>
              <a:rPr lang="en-US" dirty="0"/>
              <a:t>Time‑of‑use probabilities</a:t>
            </a:r>
          </a:p>
          <a:p>
            <a:pPr algn="ctr"/>
            <a:r>
              <a:rPr lang="en-US" dirty="0"/>
              <a:t>Site location</a:t>
            </a:r>
            <a:endParaRPr lang="en-K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19DE13-4CF2-0C4D-76EE-577DA0E24894}"/>
              </a:ext>
            </a:extLst>
          </p:cNvPr>
          <p:cNvSpPr/>
          <p:nvPr/>
        </p:nvSpPr>
        <p:spPr>
          <a:xfrm>
            <a:off x="7546143" y="3026396"/>
            <a:ext cx="3446585" cy="13537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Synthetic load profiling</a:t>
            </a:r>
          </a:p>
          <a:p>
            <a:pPr algn="ctr"/>
            <a:r>
              <a:rPr lang="en-US" dirty="0"/>
              <a:t>ML long‑term solar forecasting</a:t>
            </a:r>
          </a:p>
          <a:p>
            <a:pPr algn="ctr"/>
            <a:r>
              <a:rPr lang="en-US" dirty="0"/>
              <a:t>Multi‑objective sizing optimization</a:t>
            </a:r>
            <a:endParaRPr lang="en-KE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5679F1-A77E-F8EA-1A30-E8C8FD469553}"/>
              </a:ext>
            </a:extLst>
          </p:cNvPr>
          <p:cNvSpPr/>
          <p:nvPr/>
        </p:nvSpPr>
        <p:spPr>
          <a:xfrm>
            <a:off x="7546143" y="5002087"/>
            <a:ext cx="3446584" cy="13537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PV, battery, inverter sizes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Cheapest option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Balanced option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High‑autonomy option</a:t>
            </a:r>
            <a:endParaRPr lang="en-KE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0931E5-7AA1-446B-A00F-6506BB30D818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9269436" y="2404412"/>
            <a:ext cx="0" cy="621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336CBF4-ECC0-2BFC-53B2-DD0222E292E9}"/>
              </a:ext>
            </a:extLst>
          </p:cNvPr>
          <p:cNvCxnSpPr>
            <a:cxnSpLocks/>
          </p:cNvCxnSpPr>
          <p:nvPr/>
        </p:nvCxnSpPr>
        <p:spPr>
          <a:xfrm>
            <a:off x="9269435" y="4380103"/>
            <a:ext cx="0" cy="621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7D91F12-13E9-9FE5-CDDB-DF3F5BF63375}"/>
              </a:ext>
            </a:extLst>
          </p:cNvPr>
          <p:cNvSpPr txBox="1"/>
          <p:nvPr/>
        </p:nvSpPr>
        <p:spPr>
          <a:xfrm>
            <a:off x="6630573" y="1488023"/>
            <a:ext cx="778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4DB396-33AC-EF05-0DF9-DA85DCE5AF93}"/>
              </a:ext>
            </a:extLst>
          </p:cNvPr>
          <p:cNvSpPr txBox="1"/>
          <p:nvPr/>
        </p:nvSpPr>
        <p:spPr>
          <a:xfrm>
            <a:off x="6630572" y="3453618"/>
            <a:ext cx="9155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D2D380-CA11-706B-287D-7A46823598D0}"/>
              </a:ext>
            </a:extLst>
          </p:cNvPr>
          <p:cNvSpPr txBox="1"/>
          <p:nvPr/>
        </p:nvSpPr>
        <p:spPr>
          <a:xfrm>
            <a:off x="6630572" y="5185311"/>
            <a:ext cx="9155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072225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41834-B92F-AB99-10EC-33E12C253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D3DB8-7E51-46FD-97F2-8763E3227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490" y="184930"/>
            <a:ext cx="10515600" cy="586154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B513489-2514-FAC9-93EA-96EB3C1269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1591843"/>
              </p:ext>
            </p:extLst>
          </p:nvPr>
        </p:nvGraphicFramePr>
        <p:xfrm>
          <a:off x="309490" y="771084"/>
          <a:ext cx="11713545" cy="557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0492">
                  <a:extLst>
                    <a:ext uri="{9D8B030D-6E8A-4147-A177-3AD203B41FA5}">
                      <a16:colId xmlns:a16="http://schemas.microsoft.com/office/drawing/2014/main" val="3198584434"/>
                    </a:ext>
                  </a:extLst>
                </a:gridCol>
                <a:gridCol w="3293547">
                  <a:extLst>
                    <a:ext uri="{9D8B030D-6E8A-4147-A177-3AD203B41FA5}">
                      <a16:colId xmlns:a16="http://schemas.microsoft.com/office/drawing/2014/main" val="997705079"/>
                    </a:ext>
                  </a:extLst>
                </a:gridCol>
                <a:gridCol w="3385874">
                  <a:extLst>
                    <a:ext uri="{9D8B030D-6E8A-4147-A177-3AD203B41FA5}">
                      <a16:colId xmlns:a16="http://schemas.microsoft.com/office/drawing/2014/main" val="467374646"/>
                    </a:ext>
                  </a:extLst>
                </a:gridCol>
                <a:gridCol w="3493632">
                  <a:extLst>
                    <a:ext uri="{9D8B030D-6E8A-4147-A177-3AD203B41FA5}">
                      <a16:colId xmlns:a16="http://schemas.microsoft.com/office/drawing/2014/main" val="371319754"/>
                    </a:ext>
                  </a:extLst>
                </a:gridCol>
              </a:tblGrid>
              <a:tr h="306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latin typeface="+mn-lt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+mn-lt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+mn-lt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+mn-lt"/>
                          <a:cs typeface="Times New Roman" panose="02020603050405020304" pitchFamily="18" charset="0"/>
                        </a:rPr>
                        <a:t>Identified Gap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000518"/>
                  </a:ext>
                </a:extLst>
              </a:tr>
              <a:tr h="687801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Pirouz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>
                          <a:latin typeface="+mn-lt"/>
                          <a:cs typeface="Times New Roman" panose="02020603050405020304" pitchFamily="18" charset="0"/>
                        </a:rPr>
                        <a:t>et al., 2025</a:t>
                      </a:r>
                      <a:endParaRPr lang="en-US" sz="1800" b="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Multi-objective optimization for sizing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 models for PV/load forecasting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BESS Scheduling algorithm</a:t>
                      </a:r>
                      <a:endParaRPr lang="en-US" sz="1800" b="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AI-enhanced multi-objective models yield Pareto-optimal BESS sizes and schedules that trade off cost, self-sufficiency, reliability, and battery aging.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 used for short term prediction for BESS control not long term for sizing.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Assumes access to load data.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Objective models aren’t tailored to installer needs.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7641451"/>
                  </a:ext>
                </a:extLst>
              </a:tr>
              <a:tr h="687801"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+mn-lt"/>
                          <a:cs typeface="Times New Roman" panose="02020603050405020304" pitchFamily="18" charset="0"/>
                        </a:rPr>
                        <a:t>Azizi </a:t>
                      </a:r>
                      <a:r>
                        <a:rPr lang="en-US" sz="1800" dirty="0">
                          <a:latin typeface="+mn-lt"/>
                          <a:cs typeface="Times New Roman" panose="02020603050405020304" pitchFamily="18" charset="0"/>
                        </a:rPr>
                        <a:t>et al., 2023</a:t>
                      </a:r>
                      <a:endParaRPr lang="en-US" sz="1800" b="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Compared MLP, LSTM, GRU, CNN, and CNN‑LSTM for long‑term (10‑year) monthly forecasting of GHI and temperature using NASA data (1984–2021) for Zahedan</a:t>
                      </a:r>
                      <a:endParaRPr lang="en-US" sz="1800" b="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CNN with four inputs gave the best GHI performance (test RMSE ≈12.87 W/m², R² ≈95.77%) and good temperature accuracy (RMSE ≈1.75 °C, R² ≈95%).​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Need for alternate location climate justification.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Lack of benchmark against baselines like Random Forest or SVM regression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Does not include prediction intervals and uncertainty analysis.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3707861"/>
                  </a:ext>
                </a:extLst>
              </a:tr>
              <a:tr h="79708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Leach </a:t>
                      </a:r>
                      <a:r>
                        <a:rPr lang="en-US" sz="1800" dirty="0">
                          <a:latin typeface="+mn-lt"/>
                          <a:cs typeface="Times New Roman" panose="02020603050405020304" pitchFamily="18" charset="0"/>
                        </a:rPr>
                        <a:t>et al., 2020</a:t>
                      </a:r>
                      <a:endParaRPr lang="en-US" sz="1800" b="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Adapted the CREST probabilistic demand model to build a minute‑resolution household load model.</a:t>
                      </a:r>
                      <a:endParaRPr lang="en-US" sz="1800" b="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model generates realistic 1‑minute load profiles for cooking and non‑cooking uses at single‑household and multi‑household levels.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Limited time‑use/occupancy data beyond cooking.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Lack of weekday/weekend variance</a:t>
                      </a:r>
                      <a:b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quantitative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005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2309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9AAA-375C-8BD7-2B47-EC49810E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466" y="335146"/>
            <a:ext cx="10515600" cy="459334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Gaps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EBBA7-5469-8625-6452-D40259FDC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466" y="1226018"/>
            <a:ext cx="10515600" cy="2656434"/>
          </a:xfrm>
        </p:spPr>
        <p:txBody>
          <a:bodyPr>
            <a:normAutofit/>
          </a:bodyPr>
          <a:lstStyle/>
          <a:p>
            <a:r>
              <a:rPr lang="en-US" sz="2000" dirty="0"/>
              <a:t>Lack of an integrated framework combining synthetic loads, long-term solar forecasting, and multi-objective sizing.​</a:t>
            </a:r>
          </a:p>
          <a:p>
            <a:r>
              <a:rPr lang="en-US" sz="2000" dirty="0"/>
              <a:t>Limited methods that work under real installer data constraints (no meters, no detailed irradiance records).​</a:t>
            </a:r>
          </a:p>
          <a:p>
            <a:r>
              <a:rPr lang="en-US" sz="2000" dirty="0"/>
              <a:t>Few tools translate technical sizing into simple options that show cost–autonomy–grid trade-offs.​</a:t>
            </a:r>
          </a:p>
          <a:p>
            <a:r>
              <a:rPr lang="en-US" sz="2000" dirty="0"/>
              <a:t>Limited use of uncertainty in forecasts to inform risk-aware sizing decisions.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912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891DB-203D-5359-036A-CD6108475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4A8AD-6788-B26B-9708-23A6A05DC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304" y="366762"/>
            <a:ext cx="10515600" cy="369393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3623F-609C-96EB-5333-1EF596BBF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304" y="1320760"/>
            <a:ext cx="10515600" cy="47561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Residential load modelling</a:t>
            </a:r>
          </a:p>
          <a:p>
            <a:r>
              <a:rPr lang="en-US" sz="2000" dirty="0"/>
              <a:t>Select a representative case-study household.</a:t>
            </a:r>
          </a:p>
          <a:p>
            <a:r>
              <a:rPr lang="en-US" sz="2000" dirty="0"/>
              <a:t>Collect appliance list, wattages, usage patterns, occupancy, and dwelling characteristics.</a:t>
            </a:r>
          </a:p>
          <a:p>
            <a:r>
              <a:rPr lang="en-US" sz="2000" dirty="0"/>
              <a:t>Install a power meter and record the household load profile.</a:t>
            </a:r>
          </a:p>
          <a:p>
            <a:r>
              <a:rPr lang="en-US" sz="2000" dirty="0"/>
              <a:t>Clean and pre-process the measured load data.</a:t>
            </a:r>
          </a:p>
          <a:p>
            <a:r>
              <a:rPr lang="en-US" sz="2000" dirty="0"/>
              <a:t>Implement a CREST-type probabilistic demand model using the collected data.</a:t>
            </a:r>
          </a:p>
          <a:p>
            <a:r>
              <a:rPr lang="en-US" sz="2000" dirty="0"/>
              <a:t>Generate synthetic high-resolution load profiles.</a:t>
            </a:r>
          </a:p>
          <a:p>
            <a:r>
              <a:rPr lang="en-US" sz="2000" dirty="0"/>
              <a:t>Validate synthetic profiles against the measured load profile using basic error metrics and visual checks.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212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273AF-8E7D-C203-C124-C7363FCAD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BF15B-C85D-E250-76C7-412E790F5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304" y="366762"/>
            <a:ext cx="10515600" cy="369393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E9409-91B2-BCDA-8954-C5E92D0B8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304" y="1320760"/>
            <a:ext cx="10515600" cy="47561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cs typeface="Times New Roman" panose="02020603050405020304" pitchFamily="18" charset="0"/>
              </a:rPr>
              <a:t>Solar irradiance forecasting</a:t>
            </a:r>
          </a:p>
          <a:p>
            <a:r>
              <a:rPr lang="en-US" sz="2000" dirty="0">
                <a:cs typeface="Times New Roman" panose="02020603050405020304" pitchFamily="18" charset="0"/>
              </a:rPr>
              <a:t>Acquire long-term historical GHI and temperature data for these locations from NASA Power Dataset.</a:t>
            </a:r>
          </a:p>
          <a:p>
            <a:r>
              <a:rPr lang="en-US" sz="2000" dirty="0">
                <a:cs typeface="Times New Roman" panose="02020603050405020304" pitchFamily="18" charset="0"/>
              </a:rPr>
              <a:t>Clean and pre-process the data (gap filling, outlier handling, feature construction, train/validation/test splits).</a:t>
            </a:r>
          </a:p>
          <a:p>
            <a:r>
              <a:rPr lang="en-US" sz="2000" dirty="0">
                <a:cs typeface="Times New Roman" panose="02020603050405020304" pitchFamily="18" charset="0"/>
              </a:rPr>
              <a:t>Train several machine learning models (e.g., CNN, LSTM, Random Forest, SVR) for long-term, monthly or yearly solar irradiance forecasting.</a:t>
            </a:r>
          </a:p>
          <a:p>
            <a:r>
              <a:rPr lang="en-US" sz="2000" dirty="0">
                <a:cs typeface="Times New Roman" panose="02020603050405020304" pitchFamily="18" charset="0"/>
              </a:rPr>
              <a:t>Evaluate models using error metrics such as RMSE and correlation coefficient and select the best-performing model.</a:t>
            </a:r>
          </a:p>
          <a:p>
            <a:r>
              <a:rPr lang="en-US" sz="2000" dirty="0">
                <a:cs typeface="Times New Roman" panose="02020603050405020304" pitchFamily="18" charset="0"/>
              </a:rPr>
              <a:t>Generate long-term irradiance forecasts for the study horizon and derive PV energy yield time series.</a:t>
            </a:r>
          </a:p>
          <a:p>
            <a:r>
              <a:rPr lang="en-US" sz="2000" dirty="0">
                <a:cs typeface="Times New Roman" panose="02020603050405020304" pitchFamily="18" charset="0"/>
              </a:rPr>
              <a:t>Quantify forecast uncertainty (e.g., ensembles or prediction intervals) for use in system sizing.</a:t>
            </a:r>
          </a:p>
        </p:txBody>
      </p:sp>
    </p:spTree>
    <p:extLst>
      <p:ext uri="{BB962C8B-B14F-4D97-AF65-F5344CB8AC3E}">
        <p14:creationId xmlns:p14="http://schemas.microsoft.com/office/powerpoint/2010/main" val="2298714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D2B55-BC24-C7AF-03AB-456C43B70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CA954-5F54-295E-57E9-E25E18F80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304" y="366762"/>
            <a:ext cx="10515600" cy="369393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01A54-CAA3-145D-42D9-D82B811CA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304" y="1320760"/>
            <a:ext cx="10515600" cy="47561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Multi-objective sizing optimization</a:t>
            </a:r>
          </a:p>
          <a:p>
            <a:r>
              <a:rPr lang="en-US" sz="2000" dirty="0"/>
              <a:t>Formulate a hybrid PV–battery–grid model using the synthetic load profiles and solar forecasts as inputs.</a:t>
            </a:r>
          </a:p>
          <a:p>
            <a:r>
              <a:rPr lang="en-US" sz="2000" dirty="0"/>
              <a:t>Define decision variables for PV array size, battery capacity, and inverter rating.</a:t>
            </a:r>
          </a:p>
          <a:p>
            <a:r>
              <a:rPr lang="en-US" sz="2000" dirty="0"/>
              <a:t>Specify objective functions (e.g., minimize lifecycle cost, minimize grid energy use, maximize reliability/autonomy) and technical constraints.</a:t>
            </a:r>
          </a:p>
          <a:p>
            <a:r>
              <a:rPr lang="en-US" sz="2000" dirty="0"/>
              <a:t>Apply a suitable multi-objective optimization algorithm (e.g., NSGA-II–type) to obtain a Pareto front of feasible system sizes.</a:t>
            </a:r>
          </a:p>
          <a:p>
            <a:r>
              <a:rPr lang="en-US" sz="2000" dirty="0"/>
              <a:t>From the Pareto front, select three representative designs: cheapest, balanced, and high-autonomy options, and compute key performance indicators for each.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95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26571-C3D5-7ECA-C434-BD51492A7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437" y="523081"/>
            <a:ext cx="10515600" cy="315912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61804-97BE-4657-3B63-A8272DB93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437" y="1420890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cs typeface="Times New Roman" panose="02020603050405020304" pitchFamily="18" charset="0"/>
              </a:rPr>
              <a:t>A validated probabilistic load model capable of generating realistic high‑resolution synthetic demand profiles for the case-study household.​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cs typeface="Times New Roman" panose="02020603050405020304" pitchFamily="18" charset="0"/>
              </a:rPr>
              <a:t>A tested machine-learning model that provides accurate long-term GHI forecasts and corresponding PV energy yield time series, including basic uncertainty estimates for the study location.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cs typeface="Times New Roman" panose="02020603050405020304" pitchFamily="18" charset="0"/>
              </a:rPr>
              <a:t>A set of Pareto-optimal PV–battery–grid system sizes summarized into three practical design options (cheapest, balanced, high-autonomy) with quantified objective indicators.</a:t>
            </a:r>
          </a:p>
        </p:txBody>
      </p:sp>
    </p:spTree>
    <p:extLst>
      <p:ext uri="{BB962C8B-B14F-4D97-AF65-F5344CB8AC3E}">
        <p14:creationId xmlns:p14="http://schemas.microsoft.com/office/powerpoint/2010/main" val="1439128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E7C7D-F4DB-EAB1-1B86-581CB1C62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406" y="365125"/>
            <a:ext cx="10515600" cy="612582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  <a:endParaRPr lang="en-KE" sz="2400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8C7FAC3-B409-C93F-DEC2-0B3B06113E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3271065"/>
              </p:ext>
            </p:extLst>
          </p:nvPr>
        </p:nvGraphicFramePr>
        <p:xfrm>
          <a:off x="523406" y="1384600"/>
          <a:ext cx="10515600" cy="3949949"/>
        </p:xfrm>
        <a:graphic>
          <a:graphicData uri="http://schemas.openxmlformats.org/drawingml/2006/table">
            <a:tbl>
              <a:tblPr/>
              <a:tblGrid>
                <a:gridCol w="3396175">
                  <a:extLst>
                    <a:ext uri="{9D8B030D-6E8A-4147-A177-3AD203B41FA5}">
                      <a16:colId xmlns:a16="http://schemas.microsoft.com/office/drawing/2014/main" val="3569373779"/>
                    </a:ext>
                  </a:extLst>
                </a:gridCol>
                <a:gridCol w="3614225">
                  <a:extLst>
                    <a:ext uri="{9D8B030D-6E8A-4147-A177-3AD203B41FA5}">
                      <a16:colId xmlns:a16="http://schemas.microsoft.com/office/drawing/2014/main" val="284829225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87731633"/>
                    </a:ext>
                  </a:extLst>
                </a:gridCol>
              </a:tblGrid>
              <a:tr h="58100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Item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Estimated cost (KES)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801899"/>
                  </a:ext>
                </a:extLst>
              </a:tr>
              <a:tr h="68765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Laptop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Mid‑range laptop for simulations and ML models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KE" sz="20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70,000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999837"/>
                  </a:ext>
                </a:extLst>
              </a:tr>
              <a:tr h="7908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Power meter</a:t>
                      </a:r>
                      <a:endParaRPr lang="en-US" sz="20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Single‑phase DIN‑rail meter with for household load monitoring.</a:t>
                      </a:r>
                      <a:endParaRPr lang="en-US" sz="20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en-KE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,000</a:t>
                      </a:r>
                      <a:endParaRPr lang="en-KE" sz="20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8042840"/>
                  </a:ext>
                </a:extLst>
              </a:tr>
              <a:tr h="6541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Transport 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Matatu/taxi fares 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KE" sz="20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3,000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528729"/>
                  </a:ext>
                </a:extLst>
              </a:tr>
              <a:tr h="58100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Miscellaneous expenses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nb-NO" sz="20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Printing, data bundles, etc.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KE" sz="20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7,000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244226"/>
                  </a:ext>
                </a:extLst>
              </a:tr>
              <a:tr h="58100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200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KE" sz="200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KE" sz="2000" b="1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2000" b="1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en-KE" sz="2000" b="1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,000</a:t>
                      </a:r>
                      <a:endParaRPr lang="en-KE" sz="20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325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3989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51315-3036-3C22-FCFB-12A635A09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202625"/>
            <a:ext cx="10515600" cy="531894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Plan</a:t>
            </a:r>
            <a:endParaRPr lang="en-KE" sz="2400" b="1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524D1DA7-79F4-5A46-403F-6EEA23A5B2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0752163"/>
              </p:ext>
            </p:extLst>
          </p:nvPr>
        </p:nvGraphicFramePr>
        <p:xfrm>
          <a:off x="426720" y="911860"/>
          <a:ext cx="11338560" cy="56560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1736">
                  <a:extLst>
                    <a:ext uri="{9D8B030D-6E8A-4147-A177-3AD203B41FA5}">
                      <a16:colId xmlns:a16="http://schemas.microsoft.com/office/drawing/2014/main" val="2812117681"/>
                    </a:ext>
                  </a:extLst>
                </a:gridCol>
                <a:gridCol w="721402">
                  <a:extLst>
                    <a:ext uri="{9D8B030D-6E8A-4147-A177-3AD203B41FA5}">
                      <a16:colId xmlns:a16="http://schemas.microsoft.com/office/drawing/2014/main" val="3821703688"/>
                    </a:ext>
                  </a:extLst>
                </a:gridCol>
                <a:gridCol w="721402">
                  <a:extLst>
                    <a:ext uri="{9D8B030D-6E8A-4147-A177-3AD203B41FA5}">
                      <a16:colId xmlns:a16="http://schemas.microsoft.com/office/drawing/2014/main" val="1308276173"/>
                    </a:ext>
                  </a:extLst>
                </a:gridCol>
                <a:gridCol w="721402">
                  <a:extLst>
                    <a:ext uri="{9D8B030D-6E8A-4147-A177-3AD203B41FA5}">
                      <a16:colId xmlns:a16="http://schemas.microsoft.com/office/drawing/2014/main" val="3312351836"/>
                    </a:ext>
                  </a:extLst>
                </a:gridCol>
                <a:gridCol w="721402">
                  <a:extLst>
                    <a:ext uri="{9D8B030D-6E8A-4147-A177-3AD203B41FA5}">
                      <a16:colId xmlns:a16="http://schemas.microsoft.com/office/drawing/2014/main" val="1757511540"/>
                    </a:ext>
                  </a:extLst>
                </a:gridCol>
                <a:gridCol w="721402">
                  <a:extLst>
                    <a:ext uri="{9D8B030D-6E8A-4147-A177-3AD203B41FA5}">
                      <a16:colId xmlns:a16="http://schemas.microsoft.com/office/drawing/2014/main" val="1416886116"/>
                    </a:ext>
                  </a:extLst>
                </a:gridCol>
                <a:gridCol w="721402">
                  <a:extLst>
                    <a:ext uri="{9D8B030D-6E8A-4147-A177-3AD203B41FA5}">
                      <a16:colId xmlns:a16="http://schemas.microsoft.com/office/drawing/2014/main" val="2674600434"/>
                    </a:ext>
                  </a:extLst>
                </a:gridCol>
                <a:gridCol w="721402">
                  <a:extLst>
                    <a:ext uri="{9D8B030D-6E8A-4147-A177-3AD203B41FA5}">
                      <a16:colId xmlns:a16="http://schemas.microsoft.com/office/drawing/2014/main" val="2018565164"/>
                    </a:ext>
                  </a:extLst>
                </a:gridCol>
                <a:gridCol w="721402">
                  <a:extLst>
                    <a:ext uri="{9D8B030D-6E8A-4147-A177-3AD203B41FA5}">
                      <a16:colId xmlns:a16="http://schemas.microsoft.com/office/drawing/2014/main" val="4002290976"/>
                    </a:ext>
                  </a:extLst>
                </a:gridCol>
                <a:gridCol w="721402">
                  <a:extLst>
                    <a:ext uri="{9D8B030D-6E8A-4147-A177-3AD203B41FA5}">
                      <a16:colId xmlns:a16="http://schemas.microsoft.com/office/drawing/2014/main" val="2604292319"/>
                    </a:ext>
                  </a:extLst>
                </a:gridCol>
                <a:gridCol w="721402">
                  <a:extLst>
                    <a:ext uri="{9D8B030D-6E8A-4147-A177-3AD203B41FA5}">
                      <a16:colId xmlns:a16="http://schemas.microsoft.com/office/drawing/2014/main" val="3556826869"/>
                    </a:ext>
                  </a:extLst>
                </a:gridCol>
                <a:gridCol w="721402">
                  <a:extLst>
                    <a:ext uri="{9D8B030D-6E8A-4147-A177-3AD203B41FA5}">
                      <a16:colId xmlns:a16="http://schemas.microsoft.com/office/drawing/2014/main" val="3172088572"/>
                    </a:ext>
                  </a:extLst>
                </a:gridCol>
                <a:gridCol w="721402">
                  <a:extLst>
                    <a:ext uri="{9D8B030D-6E8A-4147-A177-3AD203B41FA5}">
                      <a16:colId xmlns:a16="http://schemas.microsoft.com/office/drawing/2014/main" val="2177802665"/>
                    </a:ext>
                  </a:extLst>
                </a:gridCol>
              </a:tblGrid>
              <a:tr h="3581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effectLst/>
                          <a:latin typeface="+mn-lt"/>
                        </a:rPr>
                        <a:t>Activity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Mar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Apr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 smtClean="0">
                          <a:effectLst/>
                          <a:latin typeface="+mn-lt"/>
                        </a:rPr>
                        <a:t>May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Jun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Jul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Aug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Sep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Oct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Nov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Dec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Jan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Feb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75406350"/>
                  </a:ext>
                </a:extLst>
              </a:tr>
              <a:tr h="3581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Literature review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 dirty="0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96032180"/>
                  </a:ext>
                </a:extLst>
              </a:tr>
              <a:tr h="3581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Proposal &amp; defense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49117197"/>
                  </a:ext>
                </a:extLst>
              </a:tr>
              <a:tr h="358153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strike="noStrike" dirty="0" smtClean="0">
                          <a:effectLst/>
                          <a:latin typeface="+mn-lt"/>
                        </a:rPr>
                        <a:t>Online survey &amp; data</a:t>
                      </a:r>
                      <a:r>
                        <a:rPr lang="en-US" sz="1800" u="none" strike="noStrike" baseline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en-US" sz="1800" u="none" strike="noStrike" dirty="0" smtClean="0">
                          <a:effectLst/>
                          <a:latin typeface="+mn-lt"/>
                        </a:rPr>
                        <a:t>processing</a:t>
                      </a:r>
                      <a:endParaRPr lang="en-US" sz="1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12603860"/>
                  </a:ext>
                </a:extLst>
              </a:tr>
              <a:tr h="482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 dirty="0" smtClean="0">
                          <a:effectLst/>
                          <a:latin typeface="+mn-lt"/>
                        </a:rPr>
                        <a:t>Load model development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E" sz="1800" u="none" strike="noStrike" dirty="0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l" fontAlgn="b">
                        <a:buNone/>
                      </a:pP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85910327"/>
                  </a:ext>
                </a:extLst>
              </a:tr>
              <a:tr h="3581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Model</a:t>
                      </a:r>
                      <a:r>
                        <a:rPr lang="en-US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validation &amp; Case study evaluation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 dirty="0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E" sz="1800" u="none" strike="noStrike" dirty="0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42715788"/>
                  </a:ext>
                </a:extLst>
              </a:tr>
              <a:tr h="3581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DL irradiance model training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 dirty="0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 dirty="0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E" sz="1800" u="none" strike="noStrike" dirty="0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E" sz="1800" u="none" strike="noStrike" dirty="0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48550005"/>
                  </a:ext>
                </a:extLst>
              </a:tr>
              <a:tr h="3581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  <a:latin typeface="+mn-lt"/>
                        </a:rPr>
                        <a:t>PV sizing optimisation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 dirty="0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E" sz="1800" u="none" strike="noStrike" dirty="0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E" sz="1800" u="none" strike="noStrike" dirty="0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19951440"/>
                  </a:ext>
                </a:extLst>
              </a:tr>
              <a:tr h="506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  <a:latin typeface="+mn-lt"/>
                        </a:rPr>
                        <a:t>Framework validation &amp; metrics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12345894"/>
                  </a:ext>
                </a:extLst>
              </a:tr>
              <a:tr h="3581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  <a:latin typeface="+mn-lt"/>
                        </a:rPr>
                        <a:t>Results analysis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 dirty="0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61851798"/>
                  </a:ext>
                </a:extLst>
              </a:tr>
              <a:tr h="3581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  <a:latin typeface="+mn-lt"/>
                        </a:rPr>
                        <a:t>Thesis writing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 dirty="0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 dirty="0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94721781"/>
                  </a:ext>
                </a:extLst>
              </a:tr>
              <a:tr h="506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  <a:latin typeface="+mn-lt"/>
                        </a:rPr>
                        <a:t>Journal paper drafting &amp; submission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 dirty="0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E" sz="1800" u="none" strike="noStrike" dirty="0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22225586"/>
                  </a:ext>
                </a:extLst>
              </a:tr>
              <a:tr h="3581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  <a:latin typeface="+mn-lt"/>
                        </a:rPr>
                        <a:t>Thesis revision &amp; defense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KE" sz="1800" u="none" strike="noStrike" dirty="0">
                          <a:effectLst/>
                          <a:latin typeface="+mn-lt"/>
                        </a:rPr>
                        <a:t>●</a:t>
                      </a:r>
                      <a:endParaRPr lang="en-KE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94891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509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8EE59-6FAA-18CB-78A0-03DEBB08E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07" y="365125"/>
            <a:ext cx="10515600" cy="429354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D87EB28-9DDE-8AA6-266F-66FEB7B726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9498130"/>
              </p:ext>
            </p:extLst>
          </p:nvPr>
        </p:nvGraphicFramePr>
        <p:xfrm>
          <a:off x="412806" y="1147445"/>
          <a:ext cx="10263892" cy="5345430"/>
        </p:xfrm>
        <a:graphic>
          <a:graphicData uri="http://schemas.openxmlformats.org/drawingml/2006/table">
            <a:tbl>
              <a:tblPr firstRow="1" firstCol="1" bandRow="1"/>
              <a:tblGrid>
                <a:gridCol w="10263892">
                  <a:extLst>
                    <a:ext uri="{9D8B030D-6E8A-4147-A177-3AD203B41FA5}">
                      <a16:colId xmlns:a16="http://schemas.microsoft.com/office/drawing/2014/main" val="2373688195"/>
                    </a:ext>
                  </a:extLst>
                </a:gridCol>
              </a:tblGrid>
              <a:tr h="3155157">
                <a:tc>
                  <a:txBody>
                    <a:bodyPr/>
                    <a:lstStyle/>
                    <a:p>
                      <a:pPr marL="457200" marR="0" lvl="0" indent="-4572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B. Pirouz, “Optimal sizing and operation of battery energy storage systems using multi‑objective optimization and AI‑based forecasting,” </a:t>
                      </a:r>
                      <a:r>
                        <a:rPr lang="en-US" sz="2000" b="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Applied Energy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vol. 347, 125138, 2025</a:t>
                      </a:r>
                    </a:p>
                    <a:p>
                      <a:pPr marL="457200" indent="-4572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G. Leach, T. </a:t>
                      </a:r>
                      <a:r>
                        <a:rPr lang="en-US" sz="2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Oreszczyn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and R. Lowe, “A probabilistic demand model for low‑carbon residential energy system design,” </a:t>
                      </a:r>
                      <a:r>
                        <a:rPr lang="en-US" sz="2000" b="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Energy and Buildings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vol. 206, pp. 109–121, 2020.​​</a:t>
                      </a:r>
                    </a:p>
                    <a:p>
                      <a:pPr marL="457200" indent="-4572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N. Azizi, M. </a:t>
                      </a:r>
                      <a:r>
                        <a:rPr lang="en-US" sz="2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Yaghoubirad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M. </a:t>
                      </a:r>
                      <a:r>
                        <a:rPr lang="en-US" sz="2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Farajollahi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and A. Ahmadi, “Deep learning‑based long‑term global solar irradiance and temperature forecasting using time series with exogenous variables,” </a:t>
                      </a:r>
                      <a:r>
                        <a:rPr lang="en-US" sz="2000" b="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Renewable Energy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vol. 204, pp. 1301–1317, 2023.​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20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253683"/>
                  </a:ext>
                </a:extLst>
              </a:tr>
              <a:tr h="372948">
                <a:tc>
                  <a:txBody>
                    <a:bodyPr/>
                    <a:lstStyle/>
                    <a:p>
                      <a:pPr marL="457200" marR="0" indent="-457200">
                        <a:lnSpc>
                          <a:spcPct val="1500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</a:pPr>
                      <a:endParaRPr lang="en-US" sz="20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50562"/>
                  </a:ext>
                </a:extLst>
              </a:tr>
              <a:tr h="372948">
                <a:tc>
                  <a:txBody>
                    <a:bodyPr/>
                    <a:lstStyle/>
                    <a:p>
                      <a:pPr marL="457200" marR="0" indent="-457200">
                        <a:lnSpc>
                          <a:spcPct val="1500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</a:pPr>
                      <a:endParaRPr lang="en-US" sz="20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419749"/>
                  </a:ext>
                </a:extLst>
              </a:tr>
              <a:tr h="372948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50000"/>
                        </a:lnSpc>
                        <a:spcAft>
                          <a:spcPts val="800"/>
                        </a:spcAft>
                        <a:buFont typeface="+mj-lt"/>
                        <a:buNone/>
                      </a:pPr>
                      <a:endParaRPr lang="en-US" sz="20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3125672"/>
                  </a:ext>
                </a:extLst>
              </a:tr>
              <a:tr h="372948">
                <a:tc>
                  <a:txBody>
                    <a:bodyPr/>
                    <a:lstStyle/>
                    <a:p>
                      <a:pPr marL="457200" marR="0" indent="-457200">
                        <a:lnSpc>
                          <a:spcPct val="1500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</a:pPr>
                      <a:endParaRPr lang="en-US" sz="20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886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45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397,984 Thank You Images, Stock Photos &amp; Vectors | Shutterstock">
            <a:extLst>
              <a:ext uri="{FF2B5EF4-FFF2-40B4-BE49-F238E27FC236}">
                <a16:creationId xmlns:a16="http://schemas.microsoft.com/office/drawing/2014/main" id="{28797AC6-7AF2-6226-28C6-C4463E245B6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429"/>
          <a:stretch/>
        </p:blipFill>
        <p:spPr bwMode="auto">
          <a:xfrm>
            <a:off x="3343275" y="1826152"/>
            <a:ext cx="5505450" cy="2202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1557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3438</TotalTime>
  <Words>1129</Words>
  <Application>Microsoft Office PowerPoint</Application>
  <PresentationFormat>Widescreen</PresentationFormat>
  <Paragraphs>211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Presentation Outline</vt:lpstr>
      <vt:lpstr>Introduction</vt:lpstr>
      <vt:lpstr>Problem statement</vt:lpstr>
      <vt:lpstr>Objectives</vt:lpstr>
      <vt:lpstr>Literature Review</vt:lpstr>
      <vt:lpstr>Summary of Gaps</vt:lpstr>
      <vt:lpstr>Methodology</vt:lpstr>
      <vt:lpstr>Methodology</vt:lpstr>
      <vt:lpstr>Methodology</vt:lpstr>
      <vt:lpstr>Expected Outcomes</vt:lpstr>
      <vt:lpstr>Budget</vt:lpstr>
      <vt:lpstr>Work Plan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Pixie Mbiyu</dc:creator>
  <cp:lastModifiedBy>Dan .</cp:lastModifiedBy>
  <cp:revision>35</cp:revision>
  <dcterms:created xsi:type="dcterms:W3CDTF">2025-09-18T08:53:56Z</dcterms:created>
  <dcterms:modified xsi:type="dcterms:W3CDTF">2026-03-01T10:39:24Z</dcterms:modified>
</cp:coreProperties>
</file>